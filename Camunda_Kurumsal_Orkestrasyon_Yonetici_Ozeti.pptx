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Aptos"/>
              </a:rPr>
              <a:t>YÖNETİCİ ÖZETİ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Camunda ile Kurumsal
Orkestrasyon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15184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Aptos"/>
              </a:rPr>
              <a:t>ITSM taleplerinden altyapı otomasyonlarına uzanan
uçtan uca, kontrollü ve ölçülebilir süreç yönetimi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069080"/>
            <a:ext cx="1828800" cy="713232"/>
          </a:xfrm>
          <a:prstGeom prst="roundRect">
            <a:avLst/>
          </a:prstGeom>
          <a:solidFill>
            <a:srgbClr val="2463EB"/>
          </a:solidFill>
          <a:ln w="127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6110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Jira / ITSM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069080"/>
            <a:ext cx="1828800" cy="713232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426110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Camunda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4069080"/>
            <a:ext cx="1828800" cy="7132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426110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OO / AAP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4069080"/>
            <a:ext cx="1828800" cy="713232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426110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Altyapı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4425696"/>
            <a:ext cx="658368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03520" y="4425696"/>
            <a:ext cx="658368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55279" y="4425696"/>
            <a:ext cx="658369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5897880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Amaç: Tekil otomasyonlardan → kurumsal süreç orkestrasyonuna geçiş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40"/>
                </a:solidFill>
                <a:latin typeface="Aptos"/>
              </a:rPr>
              <a:t>Yönetici Özeti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Bugün ulaştığımız nokta ve stratejik değer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18488"/>
            <a:ext cx="1554480" cy="292608"/>
          </a:xfrm>
          <a:prstGeom prst="roundRect">
            <a:avLst/>
          </a:prstGeom>
          <a:solidFill>
            <a:srgbClr val="2463EB"/>
          </a:solidFill>
          <a:ln w="127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8780"/>
            <a:ext cx="1463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ITSM → Orkestrasyon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7091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Jira talepleri Camunda süreçlerini tetikliyor; talep ile operasyon arasında otomatik köprü.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618488"/>
            <a:ext cx="1554480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68780"/>
            <a:ext cx="1463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İlk canlı değer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75688"/>
            <a:ext cx="47091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Manuel yürütülen 2 operasyonel iş, Camunda üzerinden OO tetiklenerek otomatikleştirildi.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10712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611880"/>
            <a:ext cx="1554480" cy="29260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62172"/>
            <a:ext cx="1463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Standartlaştırma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47091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OO/AAP çağrıları, polling ve hata yönetimi tekrar kullanılabilir kütüphane yaklaşımında.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10712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3611880"/>
            <a:ext cx="1554480" cy="292608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662172"/>
            <a:ext cx="1463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Ölçeklenebilir temel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69080"/>
            <a:ext cx="47091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Aynı yapı Linux, Windows, Network, VMware, K8S, DB ve Storage süreçlerine genişletilebilir.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04688"/>
            <a:ext cx="1088136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650992"/>
            <a:ext cx="10424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12240"/>
                </a:solidFill>
                <a:latin typeface="Aptos"/>
              </a:rPr>
              <a:t>Camunda mevcut otomasyon araçlarının alternatifi değil; onları uçtan uca iş sürecinde orkestre eden katmandır.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40"/>
                </a:solidFill>
                <a:latin typeface="Aptos"/>
              </a:rPr>
              <a:t>Neden Camunda?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Otomasyon araçlarının üzerine süreç, kontrol ve görünürlük katmanı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2395728"/>
            <a:ext cx="3383280" cy="10515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07408" y="26517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CAMUNDA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8191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463EB"/>
                </a:solidFill>
                <a:latin typeface="Aptos"/>
              </a:rPr>
              <a:t>Süreç Orkestrasyonu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Sistemler ve ekipler arası uçtan uca akış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9476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5935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06824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Onay ve karar noktalarında insan görevi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Aptos"/>
              </a:rPr>
              <a:t>Standart Hata Yönetimi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9384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Retry, timeout, boundary error, ortak hata kodları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79476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95935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Yeniden Kullanım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306824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OO/AAP/REST kütüphaneleri; daha hızlı entegrasyon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2057400"/>
            <a:ext cx="566928" cy="612648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840480" y="3154680"/>
            <a:ext cx="566928" cy="118872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790688" y="2057400"/>
            <a:ext cx="438912" cy="612648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7790688" y="3154680"/>
            <a:ext cx="438912" cy="118872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34640" y="5166360"/>
            <a:ext cx="6492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12240"/>
                </a:solidFill>
                <a:latin typeface="Aptos"/>
              </a:rPr>
              <a:t>Daha az özel geliştirme • Daha fazla standart • Daha yüksek izlenebilirlik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40"/>
                </a:solidFill>
                <a:latin typeface="Aptos"/>
              </a:rPr>
              <a:t>Devreye Alınan ve Planlanan Akışlar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Mevcut entegrasyonlar, hazır yetenekler ve genişleme alanı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417320" cy="868680"/>
          </a:xfrm>
          <a:prstGeom prst="roundRect">
            <a:avLst/>
          </a:prstGeom>
          <a:solidFill>
            <a:srgbClr val="2463EB"/>
          </a:solidFill>
          <a:ln w="127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Jira
ITSM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417320"/>
            <a:ext cx="1965960" cy="8686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627632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Camunda
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417320"/>
            <a:ext cx="1234440" cy="8686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627632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417320"/>
            <a:ext cx="1234440" cy="8686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627632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417320"/>
            <a:ext cx="1920240" cy="86868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1627632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Hedef
Sistem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11680" y="1856231"/>
            <a:ext cx="70408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4880" y="1856231"/>
            <a:ext cx="70408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66560" y="1856231"/>
            <a:ext cx="52120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5360" y="1856231"/>
            <a:ext cx="79552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2880360"/>
            <a:ext cx="3474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090672"/>
            <a:ext cx="1234440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4096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DEVREDE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593592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Jira → Camunda süreç tetikleme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Camunda → OO workflow çalıştırma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2 manuel operasyonel işin otomasyonu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880360"/>
            <a:ext cx="3474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0" y="3090672"/>
            <a:ext cx="1234440" cy="292608"/>
          </a:xfrm>
          <a:prstGeom prst="roundRect">
            <a:avLst/>
          </a:prstGeom>
          <a:solidFill>
            <a:srgbClr val="2463EB"/>
          </a:solidFill>
          <a:ln w="127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14096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HAZIR / KANITLANMIŞ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593592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AAP workflow trigger + status polling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OO status polling + standart error handling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REST / AI / Confluence entegrasyon desenleri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2880360"/>
            <a:ext cx="3474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60" y="3090672"/>
            <a:ext cx="1234440" cy="29260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14096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PLANLANAN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593592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Yeni ITSM use-case’leri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Linux • Windows • Network • VMware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Kubernetes • DB • Storage süreçleri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40"/>
                </a:solidFill>
                <a:latin typeface="Aptos"/>
              </a:rPr>
              <a:t>Yeni Bir İşin Entegrasyonu İçin Ne Gerekli?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Tekrar kullanılabilir yapı taşlarıyla standart onboarding modeli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6276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6696" y="1755648"/>
            <a:ext cx="640080" cy="640080"/>
          </a:xfrm>
          <a:prstGeom prst="roundRect">
            <a:avLst/>
          </a:prstGeom>
          <a:solidFill>
            <a:srgbClr val="2463EB"/>
          </a:solidFill>
          <a:ln w="127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901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87752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12240"/>
                </a:solidFill>
                <a:latin typeface="Aptos"/>
              </a:rPr>
              <a:t>İş Tanımı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3063240"/>
            <a:ext cx="133502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Akış, tetikleyici ve hedef çıktı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508760"/>
            <a:ext cx="16276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16936" y="1755648"/>
            <a:ext cx="640080" cy="64008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901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87752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12240"/>
                </a:solidFill>
                <a:latin typeface="Aptos"/>
              </a:rPr>
              <a:t>Girdi / Çıktı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3063240"/>
            <a:ext cx="133502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Parametreler, veri modeli, sonuç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08760"/>
            <a:ext cx="16276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37176" y="1755648"/>
            <a:ext cx="640080" cy="6400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7176" y="1901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87752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12240"/>
                </a:solidFill>
                <a:latin typeface="Aptos"/>
              </a:rPr>
              <a:t>Otomasyon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063240"/>
            <a:ext cx="133502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Mevcut OO/AAP/API yeteneği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508760"/>
            <a:ext cx="16276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57416" y="1755648"/>
            <a:ext cx="640080" cy="64008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7416" y="1901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87752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12240"/>
                </a:solidFill>
                <a:latin typeface="Aptos"/>
              </a:rPr>
              <a:t>Kontroller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063240"/>
            <a:ext cx="133502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Başarı, hata, timeout, rollback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508760"/>
            <a:ext cx="16276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77656" y="1755648"/>
            <a:ext cx="640080" cy="6400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77656" y="1901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587752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12240"/>
                </a:solidFill>
                <a:latin typeface="Aptos"/>
              </a:rPr>
              <a:t>Yetki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3063240"/>
            <a:ext cx="133502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Kimlik, rol, secret ve erişim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1508760"/>
            <a:ext cx="16276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97896" y="1755648"/>
            <a:ext cx="640080" cy="64008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97896" y="1901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587752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12240"/>
                </a:solidFill>
                <a:latin typeface="Aptos"/>
              </a:rPr>
              <a:t>KPI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0424" y="3063240"/>
            <a:ext cx="133502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tos"/>
              </a:rPr>
              <a:t>Süre, hacim, SLA ve kazanım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983480"/>
            <a:ext cx="1056132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38928"/>
            <a:ext cx="10195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12240"/>
                </a:solidFill>
                <a:latin typeface="Aptos"/>
              </a:rPr>
              <a:t>Hedef: Her entegrasyonda sıfırdan geliştirme yerine, standart kütüphaneleri ve entegrasyon desenlerini birleştirmek.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40"/>
                </a:solidFill>
                <a:latin typeface="Aptos"/>
              </a:rPr>
              <a:t>Nelerden Kurtulduk?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Manuel operasyon yükünü azaltan uçtan uca akış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Aptos"/>
              </a:rPr>
              <a:t>ÖNCE — Manuel / Parçalı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5720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Jira talebini manuel takip etme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OO / AAP ekranına girerek workflow başlatma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Durumu periyodik manuel kontrol etme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Sistemler arasında veri / sonuç taşıma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Hataları kişisel yöntemlerle takip etme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Operatör ve kişiye bağımlılık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212080" cy="4389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7276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Aptos"/>
              </a:rPr>
              <a:t>SONRA — Orkestre / İzlenebilir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Jira’dan otomatik süreç tetikleme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OO / AAP otomasyonlarını API üzerinden çalıştırma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Polling ile otomatik durum takibi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Standart sonuç ve hata modeli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Merkezi retry / timeout / error handling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Audit edilebilir süreç görünürlüğü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40"/>
                </a:solidFill>
                <a:latin typeface="Aptos"/>
              </a:rPr>
              <a:t>İş Gücü ve Maliyet Kazanımı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İlk aşamada gerçek kullanım verisiyle ölçülecek KPI modeli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9601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332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Yıllık kazanım (saat) = Aylık talep × 12 × (Manuel süre − Otomasyon sonrası insan süresi)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423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92608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Talep Hacmi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375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463EB"/>
                </a:solidFill>
                <a:latin typeface="Aptos"/>
              </a:rPr>
              <a:t>___ / 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7947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Aptos"/>
              </a:rPr>
              <a:t>Jira üzerinden ölçüm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743200"/>
            <a:ext cx="2423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92608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Manuel Süre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3375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59E0B"/>
                </a:solidFill>
                <a:latin typeface="Aptos"/>
              </a:rPr>
              <a:t>___ dk / talep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7947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Aptos"/>
              </a:rPr>
              <a:t>Mevcut operasyon süresi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43200"/>
            <a:ext cx="2423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92608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Otomasyon Sonrası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3375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B8A6"/>
                </a:solidFill>
                <a:latin typeface="Aptos"/>
              </a:rPr>
              <a:t>___ dk / talep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37947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Aptos"/>
              </a:rPr>
              <a:t>Gerekli insan müdahalesi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743200"/>
            <a:ext cx="2423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292608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Yıllık Kazanım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3375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2C55E"/>
                </a:solidFill>
                <a:latin typeface="Aptos"/>
              </a:rPr>
              <a:t>___ saat / yıl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37947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Aptos"/>
              </a:rPr>
              <a:t>FTE ve TL karşılığı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2240"/>
                </a:solidFill>
                <a:latin typeface="Aptos"/>
              </a:rPr>
              <a:t>Ek kazanımlar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8523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Daha düşük hata oranı  •  SLA iyileşmesi  •  Mesai dışı çalışabilme  •  Kapasite artışı  •  Operasyonel izlenebilirlik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40"/>
                </a:solidFill>
                <a:latin typeface="Aptos"/>
              </a:rPr>
              <a:t>Riskleri Nasıl Bertaraf Ediyoruz?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Kontrollü otomasyon: hata, erişim ve operasyonel süreklilik birlikte ele alınıyor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1" y="1545336"/>
            <a:ext cx="16459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4904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2240"/>
                </a:solidFill>
                <a:latin typeface="Aptos"/>
              </a:rPr>
              <a:t>Teknik hata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828800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Aptos"/>
              </a:rPr>
              <a:t>Standart error code/message, boundary error, retry ve timeout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28232" y="1545336"/>
            <a:ext cx="164592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14904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2240"/>
                </a:solidFill>
                <a:latin typeface="Aptos"/>
              </a:rPr>
              <a:t>Bağımlı sistem kesintisi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1828800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Aptos"/>
              </a:rPr>
              <a:t>Polling, kontrollü tekrar deneme, hata sonlandırma / eskalasyon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" y="3054096"/>
            <a:ext cx="164592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9992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2240"/>
                </a:solidFill>
                <a:latin typeface="Aptos"/>
              </a:rPr>
              <a:t>Yetkisiz erişim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337559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Aptos"/>
              </a:rPr>
              <a:t>OIDC/RBAC, servis hesapları, secret yönetimi ve minimum yetki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34639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28232" y="3054096"/>
            <a:ext cx="164592" cy="7498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9992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2240"/>
                </a:solidFill>
                <a:latin typeface="Aptos"/>
              </a:rPr>
              <a:t>Yanlış işlem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3337559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Aptos"/>
              </a:rPr>
              <a:t>Input validation, onay adımları, prod limitleri ve kontrollü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43400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" y="4562856"/>
            <a:ext cx="164592" cy="7498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5079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2240"/>
                </a:solidFill>
                <a:latin typeface="Aptos"/>
              </a:rPr>
              <a:t>Geri dönüş ihtiyacı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846320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Aptos"/>
              </a:rPr>
              <a:t>Rollback yaklaşımı, backup bilgisi ve kontrollü geri alma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343400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8232" y="4562856"/>
            <a:ext cx="164592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45079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2240"/>
                </a:solidFill>
                <a:latin typeface="Aptos"/>
              </a:rPr>
              <a:t>İzlenebilirlik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4846320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Aptos"/>
              </a:rPr>
              <a:t>BPMN süreç geçmişi, standart loglama ve 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40"/>
                </a:solidFill>
                <a:latin typeface="Aptos"/>
              </a:rPr>
              <a:t>Sürece Katılacak Ekipler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Merkezi orkestrasyon, dağıtık domain sahipliği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2240280"/>
            <a:ext cx="3703320" cy="11887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51960" y="2496312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Automation &amp; Continuity
Camunda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2240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463EB"/>
                </a:solidFill>
                <a:latin typeface="Aptos"/>
              </a:rPr>
              <a:t>ITSM / Jira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29967" y="1682495"/>
            <a:ext cx="4078225" cy="1152145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4343400"/>
            <a:ext cx="2240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2C55E"/>
                </a:solidFill>
                <a:latin typeface="Aptos"/>
              </a:rPr>
              <a:t>Linux / Windows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938528" y="2834640"/>
            <a:ext cx="4169664" cy="1865376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06840" y="1325880"/>
            <a:ext cx="2240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5270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4B8A6"/>
                </a:solidFill>
                <a:latin typeface="Aptos"/>
              </a:rPr>
              <a:t>Network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108192" y="1682495"/>
            <a:ext cx="4014216" cy="1152145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3960" y="4343400"/>
            <a:ext cx="2240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45445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7C3AED"/>
                </a:solidFill>
                <a:latin typeface="Aptos"/>
              </a:rPr>
              <a:t>VMware / K8S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6108192" y="2834640"/>
            <a:ext cx="3831336" cy="1865376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34840" y="4800600"/>
            <a:ext cx="2240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50017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9E0B"/>
                </a:solidFill>
                <a:latin typeface="Aptos"/>
              </a:rPr>
              <a:t>DB / Storage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5550407" y="2834640"/>
            <a:ext cx="557785" cy="2322576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5669280"/>
            <a:ext cx="1065276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69864"/>
            <a:ext cx="10378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12240"/>
                </a:solidFill>
                <a:latin typeface="Aptos"/>
              </a:rPr>
              <a:t>Domain ekipleri otomasyon yeteneklerinin sahibi olmaya devam eder; Camunda ekipler ve sistemler arasındaki süreci orkestre eder.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40"/>
                </a:solidFill>
                <a:latin typeface="Aptos"/>
              </a:rPr>
              <a:t>3 / 6 / 12 Aylık Yol Haritası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Pilot başarıdan kurumsal ölçeğe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64208"/>
            <a:ext cx="1051560" cy="292608"/>
          </a:xfrm>
          <a:prstGeom prst="roundRect">
            <a:avLst/>
          </a:prstGeom>
          <a:solidFill>
            <a:srgbClr val="2463EB"/>
          </a:solidFill>
          <a:ln w="127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4500"/>
            <a:ext cx="9601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0–3 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240"/>
                </a:solidFill>
                <a:latin typeface="Aptos"/>
              </a:rPr>
              <a:t>STANDARDİZE 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Jira–Camunda–OO/AAP desenlerini standardize et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İlk akışları canlıda ölç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Ortak kütüphane ve error handling kataloğunu tamamla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KPI baseline oluştur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4747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36008" y="1664208"/>
            <a:ext cx="1051560" cy="29260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714500"/>
            <a:ext cx="9601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3–6 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1762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240"/>
                </a:solidFill>
                <a:latin typeface="Aptos"/>
              </a:rPr>
              <a:t>YAYGINLAŞTIR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743200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Yeni ITSM use-case’lerini devreye al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Yeni domain ekiplerini sürece dahil et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Dashboard / SLA / kazanım raporlamasını oluştur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Reusable library kataloğunu genişlet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4747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0768" y="1664208"/>
            <a:ext cx="1051560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714500"/>
            <a:ext cx="9601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6–12 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1762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240"/>
                </a:solidFill>
                <a:latin typeface="Aptos"/>
              </a:rPr>
              <a:t>ÖLÇEKLE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743200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Linux, Windows, Network, VMware, K8S, DB, Storage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Uçtan uca zero-touch akışları artır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Kurumsal orkestrasyon operating modelini olgunlaştır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• Değer bazlı otomasyon portföyü yönet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Hedef: Kurumsal Orkestrasyon Katmanı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Talebin açılmasından sonucun ITSM’e dönmesine kadar tek, kontrollü ve ölçülebilir süreç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2331720"/>
            <a:ext cx="1600200" cy="960120"/>
          </a:xfrm>
          <a:prstGeom prst="roundRect">
            <a:avLst/>
          </a:prstGeom>
          <a:solidFill>
            <a:srgbClr val="2463EB"/>
          </a:solidFill>
          <a:ln w="127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2578608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ITSM
Talebi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92807" y="2816352"/>
            <a:ext cx="201169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48840" y="2331720"/>
            <a:ext cx="1920240" cy="96012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2578608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Camunda
Orchestration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80" y="2816352"/>
            <a:ext cx="201168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25112" y="2331720"/>
            <a:ext cx="1600200" cy="9601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578608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Karar /
Onay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25312" y="2816352"/>
            <a:ext cx="201168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81344" y="2331720"/>
            <a:ext cx="1600200" cy="96012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2578608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OO • AAP
• 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81544" y="2816352"/>
            <a:ext cx="201168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37576" y="2331720"/>
            <a:ext cx="1600200" cy="96012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7576" y="2578608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Kontrol /
Doğrulama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37776" y="2816352"/>
            <a:ext cx="201168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93808" y="2331720"/>
            <a:ext cx="1600200" cy="960120"/>
          </a:xfrm>
          <a:prstGeom prst="roundRect">
            <a:avLst/>
          </a:prstGeom>
          <a:solidFill>
            <a:srgbClr val="2463EB"/>
          </a:solidFill>
          <a:ln w="127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8" y="2578608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ITSM
Kapatma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251960"/>
            <a:ext cx="102412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07992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“Manuel operasyonları tek tek otomatikleştirmekten,
kurumsal süreçleri uçtan uca orkestre etmeye geçiyoruz.”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1675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B8A6"/>
                </a:solidFill>
                <a:latin typeface="Aptos"/>
              </a:rPr>
              <a:t>Önerilen sonraki adım: 3 aylık use-case portföyünü ve ölçülebilir kazanım hedeflerini onaylamak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Camunda Kurumsal Orkestrasyon | Yönetici Özeti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